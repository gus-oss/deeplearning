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281" r:id="rId3"/>
    <p:sldId id="376" r:id="rId4"/>
    <p:sldId id="377" r:id="rId5"/>
    <p:sldId id="378" r:id="rId6"/>
    <p:sldId id="379" r:id="rId7"/>
    <p:sldId id="381" r:id="rId8"/>
    <p:sldId id="382" r:id="rId9"/>
    <p:sldId id="375" r:id="rId10"/>
    <p:sldId id="350" r:id="rId11"/>
    <p:sldId id="351" r:id="rId12"/>
    <p:sldId id="352" r:id="rId13"/>
    <p:sldId id="353" r:id="rId14"/>
    <p:sldId id="354" r:id="rId15"/>
    <p:sldId id="356" r:id="rId16"/>
    <p:sldId id="358" r:id="rId17"/>
    <p:sldId id="359" r:id="rId18"/>
    <p:sldId id="360" r:id="rId19"/>
    <p:sldId id="361" r:id="rId20"/>
    <p:sldId id="362" r:id="rId21"/>
    <p:sldId id="363" r:id="rId22"/>
    <p:sldId id="349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4" r:id="rId31"/>
    <p:sldId id="28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81"/>
            <p14:sldId id="376"/>
            <p14:sldId id="377"/>
            <p14:sldId id="378"/>
            <p14:sldId id="379"/>
            <p14:sldId id="381"/>
            <p14:sldId id="382"/>
            <p14:sldId id="375"/>
            <p14:sldId id="350"/>
            <p14:sldId id="351"/>
            <p14:sldId id="352"/>
            <p14:sldId id="353"/>
            <p14:sldId id="354"/>
            <p14:sldId id="356"/>
            <p14:sldId id="358"/>
            <p14:sldId id="359"/>
            <p14:sldId id="360"/>
            <p14:sldId id="361"/>
            <p14:sldId id="362"/>
            <p14:sldId id="363"/>
            <p14:sldId id="349"/>
            <p14:sldId id="366"/>
            <p14:sldId id="367"/>
            <p14:sldId id="368"/>
            <p14:sldId id="369"/>
            <p14:sldId id="370"/>
            <p14:sldId id="371"/>
            <p14:sldId id="372"/>
            <p14:sldId id="374"/>
          </p14:sldIdLst>
        </p14:section>
        <p14:section name="Learn More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5F5F5"/>
    <a:srgbClr val="D24726"/>
    <a:srgbClr val="404040"/>
    <a:srgbClr val="FF9B45"/>
    <a:srgbClr val="DD462F"/>
    <a:srgbClr val="F8CFB6"/>
    <a:srgbClr val="F8CAB6"/>
    <a:srgbClr val="92392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241" autoAdjust="0"/>
  </p:normalViewPr>
  <p:slideViewPr>
    <p:cSldViewPr snapToGrid="0">
      <p:cViewPr varScale="1">
        <p:scale>
          <a:sx n="74" d="100"/>
          <a:sy n="74" d="100"/>
        </p:scale>
        <p:origin x="68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SIPCMContentMarking" descr="{&quot;HashCode&quot;:-6268944,&quot;Placement&quot;:&quot;Footer&quot;,&quot;Top&quot;:520.68866,&quot;Left&quot;:0.0,&quot;SlideWidth&quot;:960,&quot;SlideHeight&quot;:540}">
            <a:extLst>
              <a:ext uri="{FF2B5EF4-FFF2-40B4-BE49-F238E27FC236}">
                <a16:creationId xmlns:a16="http://schemas.microsoft.com/office/drawing/2014/main" id="{734DFF8A-00A2-4EDE-936D-97F322B263E1}"/>
              </a:ext>
            </a:extLst>
          </p:cNvPr>
          <p:cNvSpPr txBox="1"/>
          <p:nvPr userDrawn="1"/>
        </p:nvSpPr>
        <p:spPr>
          <a:xfrm>
            <a:off x="0" y="6612746"/>
            <a:ext cx="2000923" cy="24525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737373"/>
                </a:solidFill>
                <a:latin typeface="Calibri" panose="020F0502020204030204" pitchFamily="34" charset="0"/>
              </a:rPr>
              <a:t>Classification: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Deep Learning Pre-Concepts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7E0AFA-14C0-4DC7-9018-DFC6BAACEFA6}"/>
              </a:ext>
            </a:extLst>
          </p:cNvPr>
          <p:cNvSpPr txBox="1">
            <a:spLocks/>
          </p:cNvSpPr>
          <p:nvPr/>
        </p:nvSpPr>
        <p:spPr>
          <a:xfrm>
            <a:off x="5200194" y="3807765"/>
            <a:ext cx="2607377" cy="113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400" dirty="0" err="1">
                <a:solidFill>
                  <a:schemeClr val="bg1"/>
                </a:solidFill>
                <a:latin typeface="+mj-lt"/>
              </a:rPr>
              <a:t>January</a:t>
            </a:r>
            <a:r>
              <a:rPr lang="es-MX" sz="2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400">
                <a:solidFill>
                  <a:schemeClr val="bg1"/>
                </a:solidFill>
                <a:latin typeface="+mj-lt"/>
              </a:rPr>
              <a:t>2026</a:t>
            </a: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Properties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of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First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and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Second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Derivatives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of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Function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B3925E-100E-F989-809E-296653844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09512"/>
            <a:ext cx="10477057" cy="798782"/>
          </a:xfrm>
          <a:prstGeom prst="rect">
            <a:avLst/>
          </a:prstGeom>
        </p:spPr>
      </p:pic>
      <p:pic>
        <p:nvPicPr>
          <p:cNvPr id="1026" name="Picture 2" descr="Function | Definition, Types, Examples, &amp; Facts | Britannica">
            <a:extLst>
              <a:ext uri="{FF2B5EF4-FFF2-40B4-BE49-F238E27FC236}">
                <a16:creationId xmlns:a16="http://schemas.microsoft.com/office/drawing/2014/main" id="{972C6F8A-DEBE-490E-1AEB-AF0D7E9D9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800" y="2774352"/>
            <a:ext cx="4351536" cy="27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First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Derivative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83E8C6-FF54-C6D1-54CA-133F7C193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6" y="1633295"/>
            <a:ext cx="10198412" cy="12693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F145D3-DC8D-C288-805E-F7429B56E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61" y="2959241"/>
            <a:ext cx="10111722" cy="20062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8AF437-E4BA-1E5A-EBBD-AA44EAF65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1" y="5022048"/>
            <a:ext cx="10062185" cy="73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7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Second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Derivative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C2CF87-6070-E0BA-8158-66637F1EE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59" y="1586129"/>
            <a:ext cx="10018841" cy="200624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F86C0C4-A861-8688-B2E8-D20A8116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18" y="2605748"/>
            <a:ext cx="10142683" cy="1294152"/>
          </a:xfrm>
          <a:prstGeom prst="rect">
            <a:avLst/>
          </a:prstGeom>
        </p:spPr>
      </p:pic>
      <p:pic>
        <p:nvPicPr>
          <p:cNvPr id="2050" name="Picture 2" descr="Point of Inflection - Calculus">
            <a:extLst>
              <a:ext uri="{FF2B5EF4-FFF2-40B4-BE49-F238E27FC236}">
                <a16:creationId xmlns:a16="http://schemas.microsoft.com/office/drawing/2014/main" id="{831CC629-DD29-424E-79B4-5543B2CF4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039" y="3899900"/>
            <a:ext cx="4092782" cy="260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75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Second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Derivative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960A77E-F965-8411-E918-68B0F8779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22551"/>
            <a:ext cx="9412014" cy="13994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17E6A65-5973-9CA8-F794-63496241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34" y="2950250"/>
            <a:ext cx="8854723" cy="1863826"/>
          </a:xfrm>
          <a:prstGeom prst="rect">
            <a:avLst/>
          </a:prstGeom>
        </p:spPr>
      </p:pic>
      <p:pic>
        <p:nvPicPr>
          <p:cNvPr id="3074" name="Picture 2" descr="Local Maximum and Minimum, Finding the Local Maximum and Minimum">
            <a:extLst>
              <a:ext uri="{FF2B5EF4-FFF2-40B4-BE49-F238E27FC236}">
                <a16:creationId xmlns:a16="http://schemas.microsoft.com/office/drawing/2014/main" id="{1CF5C862-A5C1-2E83-6C03-F8C2FC8ED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288" y="4321387"/>
            <a:ext cx="3934071" cy="239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01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Gradient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91240C-DD16-A07B-3EA5-0A2B014B6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36955"/>
            <a:ext cx="10538978" cy="12012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99E9BC-D853-ED0E-B9DE-388E574AA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40" y="2830076"/>
            <a:ext cx="9696851" cy="188240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FDE44C-AEAA-1DB0-EA9E-F3DDECEED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40" y="5161183"/>
            <a:ext cx="10272718" cy="7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9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Gradient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Properties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88A55A-3979-243C-969E-FAD0C4F5C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64812"/>
            <a:ext cx="10161260" cy="13003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B50A940-0475-52DC-1AF3-CD3264A35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40" y="2903065"/>
            <a:ext cx="10086954" cy="11950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8157085-2658-3566-9DBD-38882856B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40" y="4169319"/>
            <a:ext cx="10347022" cy="22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4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Gradient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EA11D6-72E7-7450-7B48-69192E2C1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385929"/>
            <a:ext cx="11107700" cy="22196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75C62E2-7DA1-965B-9B10-49AB8F966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59" y="3605564"/>
            <a:ext cx="11390061" cy="136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5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Matrix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F27839B-2CD8-CCBD-54CE-22D400CA2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405389"/>
            <a:ext cx="8308871" cy="17508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807FB55-B8F5-5F68-20B4-46D3EB98F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40" y="3260833"/>
            <a:ext cx="7184254" cy="319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Properties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88C567-2DCD-36BD-54D3-3E905FF0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33" y="1660505"/>
            <a:ext cx="10116962" cy="192431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CDDA09-8095-259F-42D1-F9BDAA079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85" y="3584824"/>
            <a:ext cx="10078857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1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Properties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ADEC4CD-278B-6F11-4513-BE59D1276077}"/>
              </a:ext>
            </a:extLst>
          </p:cNvPr>
          <p:cNvGrpSpPr/>
          <p:nvPr/>
        </p:nvGrpSpPr>
        <p:grpSpPr>
          <a:xfrm>
            <a:off x="589040" y="1321723"/>
            <a:ext cx="8151692" cy="5311826"/>
            <a:chOff x="589040" y="1561118"/>
            <a:chExt cx="9991132" cy="622519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1D82B89D-C15A-2684-77A7-DA2992F70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9040" y="1561118"/>
              <a:ext cx="9573961" cy="1657581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16A0EFCD-DFF9-7575-4C19-F79638C25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6685" y="3394679"/>
              <a:ext cx="9583487" cy="43916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751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3585513-50A7-45AC-88DE-E16A54B25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19610"/>
            <a:ext cx="9564435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9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77D810-AA1B-1076-FDC5-E75E9FE58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08761"/>
            <a:ext cx="7440063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2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0A582E-390C-91B3-9803-B3FB0E9E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31" y="1582380"/>
            <a:ext cx="9831172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47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C938D5-814E-0558-7817-A854613B0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542029"/>
            <a:ext cx="8096197" cy="2688856"/>
          </a:xfrm>
          <a:prstGeom prst="rect">
            <a:avLst/>
          </a:prstGeom>
        </p:spPr>
      </p:pic>
      <p:pic>
        <p:nvPicPr>
          <p:cNvPr id="1026" name="Picture 2" descr="Capítulo 3 - Funciones escalares de varias variables">
            <a:extLst>
              <a:ext uri="{FF2B5EF4-FFF2-40B4-BE49-F238E27FC236}">
                <a16:creationId xmlns:a16="http://schemas.microsoft.com/office/drawing/2014/main" id="{2F484468-18A4-EDB7-0DD3-7B46BCADC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78" y="3662322"/>
            <a:ext cx="3844899" cy="279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8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664DAFDB-F81B-C888-775C-E9D6E23E1E39}"/>
              </a:ext>
            </a:extLst>
          </p:cNvPr>
          <p:cNvGrpSpPr/>
          <p:nvPr/>
        </p:nvGrpSpPr>
        <p:grpSpPr>
          <a:xfrm>
            <a:off x="589040" y="1210031"/>
            <a:ext cx="8753550" cy="5244595"/>
            <a:chOff x="654768" y="1324712"/>
            <a:chExt cx="10383699" cy="6373809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1DC54D0B-E72B-5AD4-7ACC-49D7B1A47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768" y="1324712"/>
              <a:ext cx="10383699" cy="4324954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CA312FC-F457-3FB4-1302-2D755299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2925" y="5917097"/>
              <a:ext cx="9907383" cy="17814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698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1D15DD-4AC6-B36E-541F-C13ED4F5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440068"/>
            <a:ext cx="10107436" cy="160042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0FAE88C-FB81-1833-B8B2-FB3A15A95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30" y="2001866"/>
            <a:ext cx="10364646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2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A6CAD87-0E3A-07B9-DED2-0088B872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82" y="1920472"/>
            <a:ext cx="10107436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8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5FAF07-3582-CDB6-A6ED-3BDE0F93B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2009577"/>
            <a:ext cx="10136015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8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95A35A-9569-6661-359E-919831841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2004813"/>
            <a:ext cx="9659698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2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Hessian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in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Optimization</a:t>
            </a:r>
            <a:r>
              <a:rPr lang="es-MX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Problems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D68008-5543-6DCA-724B-4E356D639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08" y="2023866"/>
            <a:ext cx="9907383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7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3D0148-4E79-F3B7-74F8-3375D6EF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61" y="1432750"/>
            <a:ext cx="9564435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5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115D04D-E7F5-584B-446A-66C6A1D6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454075"/>
            <a:ext cx="1024080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1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843FF3-706C-5613-5160-979323A64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346648"/>
            <a:ext cx="6973273" cy="39153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7E19706-0587-35F6-EA81-C7737AE24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0" y="5511352"/>
            <a:ext cx="663985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774712-7AB7-D522-4E14-ED0408490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60" y="1388457"/>
            <a:ext cx="8287907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5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817C5A26-697E-6B52-5CCF-322809FE9DDF}"/>
              </a:ext>
            </a:extLst>
          </p:cNvPr>
          <p:cNvGrpSpPr/>
          <p:nvPr/>
        </p:nvGrpSpPr>
        <p:grpSpPr>
          <a:xfrm>
            <a:off x="589040" y="1257525"/>
            <a:ext cx="8131049" cy="5049777"/>
            <a:chOff x="641242" y="1237466"/>
            <a:chExt cx="10202699" cy="586935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F4C5937-0B25-5B42-B140-25CA06100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242" y="1237466"/>
              <a:ext cx="10202699" cy="3896269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07815408-C5C1-E5E0-113C-A48D82DB5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242" y="5382550"/>
              <a:ext cx="9412013" cy="1724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38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F78AE8-55F4-6901-D20A-860F58AD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452286"/>
            <a:ext cx="6763694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9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F78AE8-55F4-6901-D20A-860F58AD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0" y="1452286"/>
            <a:ext cx="6763694" cy="39534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6709F6A-0363-410F-2575-5B1519D9F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40" y="5552571"/>
            <a:ext cx="663032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08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8F3869A-0F1E-B666-6F37-EFCE05056AFB}"/>
              </a:ext>
            </a:extLst>
          </p:cNvPr>
          <p:cNvGrpSpPr/>
          <p:nvPr/>
        </p:nvGrpSpPr>
        <p:grpSpPr>
          <a:xfrm>
            <a:off x="589040" y="1386058"/>
            <a:ext cx="7042044" cy="4723797"/>
            <a:chOff x="589040" y="1386058"/>
            <a:chExt cx="9774014" cy="7055451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1ED34B9-62DC-27BB-F148-B4B607A79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9040" y="1386058"/>
              <a:ext cx="8326012" cy="3753374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49AEC90-5545-C168-A330-BD0B852B6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040" y="5354978"/>
              <a:ext cx="9774014" cy="3086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867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9040" y="403374"/>
            <a:ext cx="8649687" cy="640080"/>
          </a:xfrm>
        </p:spPr>
        <p:txBody>
          <a:bodyPr>
            <a:normAutofit/>
          </a:bodyPr>
          <a:lstStyle/>
          <a:p>
            <a:r>
              <a:rPr lang="es-MX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Example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15F66F-AD81-0DF1-308D-EEDA690C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54" y="1466430"/>
            <a:ext cx="953585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0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_fixed.potx" id="{9A9BE078-57A7-48B2-9D33-8EFC365D262A}" vid="{66905093-CF97-471D-A25F-2AFDA5521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DA02990A985E1429346E7EDB47F092B" ma:contentTypeVersion="7" ma:contentTypeDescription="Crear nuevo documento." ma:contentTypeScope="" ma:versionID="637f3bd5eb3e3d405c73f5c92250049f">
  <xsd:schema xmlns:xsd="http://www.w3.org/2001/XMLSchema" xmlns:xs="http://www.w3.org/2001/XMLSchema" xmlns:p="http://schemas.microsoft.com/office/2006/metadata/properties" xmlns:ns2="50d70ff0-be44-4442-a31e-b1ac4229c49f" targetNamespace="http://schemas.microsoft.com/office/2006/metadata/properties" ma:root="true" ma:fieldsID="9ea56dff4003a76d09cf44a27e9b5a6a" ns2:_="">
    <xsd:import namespace="50d70ff0-be44-4442-a31e-b1ac4229c4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d70ff0-be44-4442-a31e-b1ac4229c4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252236-786B-4F32-B329-0145F0C5794A}"/>
</file>

<file path=customXml/itemProps2.xml><?xml version="1.0" encoding="utf-8"?>
<ds:datastoreItem xmlns:ds="http://schemas.openxmlformats.org/officeDocument/2006/customXml" ds:itemID="{FD23DD26-639F-46F5-9676-D8441421BA00}"/>
</file>

<file path=customXml/itemProps3.xml><?xml version="1.0" encoding="utf-8"?>
<ds:datastoreItem xmlns:ds="http://schemas.openxmlformats.org/officeDocument/2006/customXml" ds:itemID="{EF74B221-6665-4514-A2FE-F98F9045DF66}"/>
</file>

<file path=docProps/app.xml><?xml version="1.0" encoding="utf-8"?>
<Properties xmlns="http://schemas.openxmlformats.org/officeDocument/2006/extended-properties" xmlns:vt="http://schemas.openxmlformats.org/officeDocument/2006/docPropsVTypes">
  <Template>{E01ECE82-C93C-41E9-87EB-E721A55CB1B2}tf10001108_win32</Template>
  <TotalTime>2756</TotalTime>
  <Words>75</Words>
  <Application>Microsoft Office PowerPoint</Application>
  <PresentationFormat>Panorámica</PresentationFormat>
  <Paragraphs>34</Paragraphs>
  <Slides>31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6" baseType="lpstr">
      <vt:lpstr>Arial</vt:lpstr>
      <vt:lpstr>Calibri</vt:lpstr>
      <vt:lpstr>Segoe UI</vt:lpstr>
      <vt:lpstr>Segoe UI Light</vt:lpstr>
      <vt:lpstr>WelcomeDoc</vt:lpstr>
      <vt:lpstr>Deep Learning Pre-Concepts</vt:lpstr>
      <vt:lpstr>Properties of First and Second Derivatives of a Function</vt:lpstr>
      <vt:lpstr>First Derivative</vt:lpstr>
      <vt:lpstr>Second Derivative</vt:lpstr>
      <vt:lpstr>Second Derivative</vt:lpstr>
      <vt:lpstr>Gradient</vt:lpstr>
      <vt:lpstr>Gradient Properties</vt:lpstr>
      <vt:lpstr>Gradient Example</vt:lpstr>
      <vt:lpstr>Hessian Matrix</vt:lpstr>
      <vt:lpstr>Hessian Properties</vt:lpstr>
      <vt:lpstr>Hessian Properties</vt:lpstr>
      <vt:lpstr>Example</vt:lpstr>
      <vt:lpstr>Example</vt:lpstr>
      <vt:lpstr>Example</vt:lpstr>
      <vt:lpstr>Hessian in Optimization Problems</vt:lpstr>
      <vt:lpstr>Hessian in Optimization Problems</vt:lpstr>
      <vt:lpstr>Hessian in Optimization Problems</vt:lpstr>
      <vt:lpstr>Hessian in Optimization Problems</vt:lpstr>
      <vt:lpstr>Hessian in Optimization Problems</vt:lpstr>
      <vt:lpstr>Hessian in Optimization Problems</vt:lpstr>
      <vt:lpstr>Hessian in Optimization Problems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Crimes</dc:title>
  <dc:creator>Jose</dc:creator>
  <cp:keywords/>
  <cp:lastModifiedBy>JESUS ROCHA SALAZAR</cp:lastModifiedBy>
  <cp:revision>138</cp:revision>
  <dcterms:created xsi:type="dcterms:W3CDTF">2021-12-06T20:14:14Z</dcterms:created>
  <dcterms:modified xsi:type="dcterms:W3CDTF">2026-01-17T02:18:09Z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ee3f6f-dfa9-4d1e-aa5d-d0dea03c4102_Enabled">
    <vt:lpwstr>true</vt:lpwstr>
  </property>
  <property fmtid="{D5CDD505-2E9C-101B-9397-08002B2CF9AE}" pid="3" name="MSIP_Label_d6ee3f6f-dfa9-4d1e-aa5d-d0dea03c4102_SetDate">
    <vt:lpwstr>2021-12-07T01:46:53Z</vt:lpwstr>
  </property>
  <property fmtid="{D5CDD505-2E9C-101B-9397-08002B2CF9AE}" pid="4" name="MSIP_Label_d6ee3f6f-dfa9-4d1e-aa5d-d0dea03c4102_Method">
    <vt:lpwstr>Privileged</vt:lpwstr>
  </property>
  <property fmtid="{D5CDD505-2E9C-101B-9397-08002B2CF9AE}" pid="5" name="MSIP_Label_d6ee3f6f-dfa9-4d1e-aa5d-d0dea03c4102_Name">
    <vt:lpwstr>Public</vt:lpwstr>
  </property>
  <property fmtid="{D5CDD505-2E9C-101B-9397-08002B2CF9AE}" pid="6" name="MSIP_Label_d6ee3f6f-dfa9-4d1e-aa5d-d0dea03c4102_SiteId">
    <vt:lpwstr>3bea478c-1684-4a8c-8e85-045ec54ba430</vt:lpwstr>
  </property>
  <property fmtid="{D5CDD505-2E9C-101B-9397-08002B2CF9AE}" pid="7" name="MSIP_Label_d6ee3f6f-dfa9-4d1e-aa5d-d0dea03c4102_ActionId">
    <vt:lpwstr>405d5122-501c-46b1-ae26-5f70417ee69c</vt:lpwstr>
  </property>
  <property fmtid="{D5CDD505-2E9C-101B-9397-08002B2CF9AE}" pid="8" name="MSIP_Label_d6ee3f6f-dfa9-4d1e-aa5d-d0dea03c4102_ContentBits">
    <vt:lpwstr>2</vt:lpwstr>
  </property>
  <property fmtid="{D5CDD505-2E9C-101B-9397-08002B2CF9AE}" pid="9" name="ContentTypeId">
    <vt:lpwstr>0x0101002DA02990A985E1429346E7EDB47F092B</vt:lpwstr>
  </property>
</Properties>
</file>